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B4965"/>
                </a:solidFill>
                <a:latin typeface="Calibri"/>
              </a:defRPr>
            </a:pPr>
            <a:r>
              <a:t>ALIBABA CLOUD AI HACKATHON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spcAft>
                <a:spcPts val="0"/>
              </a:spcAft>
              <a:defRPr sz="5200" b="1">
                <a:solidFill>
                  <a:srgbClr val="1A1A1A"/>
                </a:solidFill>
                <a:latin typeface="Cambria"/>
              </a:defRPr>
            </a:pPr>
            <a:r>
              <a:t>CleanCity Copilot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7A7A7A"/>
                </a:solidFill>
                <a:latin typeface="Calibri"/>
              </a:defRPr>
            </a:pPr>
            <a:r>
              <a:t>AI-Powered Municipal Intelligence for the Cities of Pakistan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356616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4A4A4A"/>
                </a:solidFill>
                <a:latin typeface="Calibri"/>
              </a:defRPr>
            </a:pPr>
            <a:r>
              <a:t>Syed Fazeel Ahmed  ·  AI Architect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114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4A4A4A"/>
                </a:solidFill>
                <a:latin typeface="Calibri"/>
              </a:defRPr>
            </a:pPr>
            <a:r>
              <a:t>Muhammad Mir  ·  Frontend Lead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411480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4A4A4A"/>
                </a:solidFill>
                <a:latin typeface="Calibri"/>
              </a:defRPr>
            </a:pPr>
            <a:r>
              <a:t>Abdul Latif  ·  Backend &amp; Spatial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7A7A7A"/>
                </a:solidFill>
                <a:latin typeface="Calibri"/>
              </a:defRPr>
            </a:pPr>
            <a:r>
              <a:t>Hyderabad, Sindh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47472"/>
          </a:xfrm>
          <a:prstGeom prst="roundRect">
            <a:avLst>
              <a:gd name="adj" fmla="val 4000"/>
            </a:avLst>
          </a:prstGeom>
          <a:solidFill>
            <a:srgbClr val="E8EEF2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100" b="1">
                <a:solidFill>
                  <a:srgbClr val="1B4965"/>
                </a:solidFill>
                <a:latin typeface="Calibri"/>
              </a:rPr>
              <a:t>Syed Fazeel Ahmed  —  AI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A1A1A"/>
                </a:solidFill>
                <a:latin typeface="Cambria"/>
              </a:defRPr>
            </a:pPr>
            <a:r>
              <a:t>The Unstructured Data Crisis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75"/>
              </a:lnSpc>
              <a:spcAft>
                <a:spcPts val="400"/>
              </a:spcAft>
              <a:defRPr sz="1500" b="0">
                <a:solidFill>
                  <a:srgbClr val="4A4A4A"/>
                </a:solidFill>
                <a:latin typeface="Calibri"/>
              </a:defRPr>
            </a:pPr>
            <a:r>
              <a:t>In cities like Hyderabad, citizens walk past overflowing garbage, hazardous potholes,</a:t>
            </a:r>
          </a:p>
          <a:p>
            <a:pPr algn="l">
              <a:lnSpc>
                <a:spcPts val="2175"/>
              </a:lnSpc>
              <a:spcAft>
                <a:spcPts val="400"/>
              </a:spcAft>
              <a:defRPr sz="1500" b="0">
                <a:solidFill>
                  <a:srgbClr val="4A4A4A"/>
                </a:solidFill>
                <a:latin typeface="Calibri"/>
              </a:defRPr>
            </a:pPr>
            <a:r>
              <a:t>and broken sewerage lines every day. When they try to report, the friction is immense —</a:t>
            </a:r>
          </a:p>
          <a:p>
            <a:pPr algn="l">
              <a:lnSpc>
                <a:spcPts val="2175"/>
              </a:lnSpc>
              <a:spcAft>
                <a:spcPts val="400"/>
              </a:spcAft>
              <a:defRPr sz="1500" b="0">
                <a:solidFill>
                  <a:srgbClr val="4A4A4A"/>
                </a:solidFill>
                <a:latin typeface="Calibri"/>
              </a:defRPr>
            </a:pPr>
            <a:r>
              <a:t>clunky apps, complex forms, and unresponsive helplines.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50800" cy="1828800"/>
          </a:xfrm>
          <a:prstGeom prst="roundRect">
            <a:avLst>
              <a:gd name="adj" fmla="val 400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822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Chaotic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Reports arrive as duplicates, vague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descriptions, and miscategorized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emergencies that overwhelm staff.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6576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3657600"/>
            <a:ext cx="50800" cy="1828800"/>
          </a:xfrm>
          <a:prstGeom prst="roundRect">
            <a:avLst>
              <a:gd name="adj" fmla="val 400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822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Manual Triage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Overwhelmed clerks sort hundreds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of complaints by hand, delaying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response by days or even weeks.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657600"/>
            <a:ext cx="32918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863840" y="3657600"/>
            <a:ext cx="50800" cy="1828800"/>
          </a:xfrm>
          <a:prstGeom prst="roundRect">
            <a:avLst>
              <a:gd name="adj" fmla="val 400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38221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Paralyzed Response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4160520"/>
            <a:ext cx="2926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Duplicate work orders waste field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crews, fuel, and municipal budgets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every single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0" y="457200"/>
            <a:ext cx="4114800" cy="347472"/>
          </a:xfrm>
          <a:prstGeom prst="roundRect">
            <a:avLst>
              <a:gd name="adj" fmla="val 4000"/>
            </a:avLst>
          </a:prstGeom>
          <a:solidFill>
            <a:srgbClr val="E8EEF2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100" b="1">
                <a:solidFill>
                  <a:srgbClr val="1B4965"/>
                </a:solidFill>
                <a:latin typeface="Calibri"/>
              </a:rPr>
              <a:t>Syed Fazeel Ahmed  —  AI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1A1A1A"/>
                </a:solidFill>
                <a:latin typeface="Cambria"/>
              </a:defRPr>
            </a:pPr>
            <a:r>
              <a:t>One Unified Municipal Nervous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A7A7A"/>
                </a:solidFill>
                <a:latin typeface="Calibri"/>
              </a:defRPr>
            </a:pPr>
            <a:r>
              <a:t>Zero friction on the edge. Absolute intelligence in the core.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33172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2834640"/>
            <a:ext cx="1737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1737360" cy="38100"/>
          </a:xfrm>
          <a:prstGeom prst="roundRect">
            <a:avLst>
              <a:gd name="adj" fmla="val 4000"/>
            </a:avLst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44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1">
                <a:solidFill>
                  <a:srgbClr val="7A7A7A"/>
                </a:solidFill>
                <a:latin typeface="Calibri"/>
              </a:defRPr>
            </a:pPr>
            <a:r>
              <a:t>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54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Citizen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Zero-install web app.</a:t>
            </a:r>
          </a:p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Photo + GPS + Voice in 15 sec.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DDD8D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2834640"/>
            <a:ext cx="1737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2834640"/>
            <a:ext cx="1737360" cy="381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944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1">
                <a:solidFill>
                  <a:srgbClr val="7A7A7A"/>
                </a:solidFill>
                <a:latin typeface="Calibri"/>
              </a:defRPr>
            </a:pPr>
            <a: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54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AI 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Gemini Vision + Whisper STT.</a:t>
            </a:r>
          </a:p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Auto-categorize &amp; triage.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DDD8D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2834640"/>
            <a:ext cx="1737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2834640"/>
            <a:ext cx="1737360" cy="381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2944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1">
                <a:solidFill>
                  <a:srgbClr val="7A7A7A"/>
                </a:solidFill>
                <a:latin typeface="Calibri"/>
              </a:defRPr>
            </a:pPr>
            <a:r>
              <a:t>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154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Geo-Dedup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Haversine 50m radius.</a:t>
            </a:r>
          </a:p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Eliminate duplicate dispatches.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DDD8D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2834640"/>
            <a:ext cx="1737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69480" y="2834640"/>
            <a:ext cx="1737360" cy="38100"/>
          </a:xfrm>
          <a:prstGeom prst="roundRect">
            <a:avLst>
              <a:gd name="adj" fmla="val 4000"/>
            </a:avLst>
          </a:prstGeom>
          <a:solidFill>
            <a:srgbClr val="B583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69480" y="2944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1">
                <a:solidFill>
                  <a:srgbClr val="7A7A7A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3154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Command Center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Live GIS map, KPIs, and</a:t>
            </a:r>
          </a:p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municipal task queue.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7A7A7A"/>
                </a:solidFill>
                <a:latin typeface="Calibri"/>
              </a:defRPr>
            </a:pPr>
            <a:r>
              <a:t>Full pipeline processes a citizen report in under 800ms end-to-end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47472"/>
          </a:xfrm>
          <a:prstGeom prst="roundRect">
            <a:avLst>
              <a:gd name="adj" fmla="val 4000"/>
            </a:avLst>
          </a:prstGeom>
          <a:solidFill>
            <a:srgbClr val="E8EEF2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100" b="1">
                <a:solidFill>
                  <a:srgbClr val="1B4965"/>
                </a:solidFill>
                <a:latin typeface="Calibri"/>
              </a:rPr>
              <a:t>Syed Fazeel Ahmed  —  AI Architect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A1A1A"/>
                </a:solidFill>
                <a:latin typeface="Cambria"/>
              </a:defRPr>
            </a:pPr>
            <a:r>
              <a:t>Multimodal AI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75"/>
              </a:lnSpc>
              <a:spcAft>
                <a:spcPts val="400"/>
              </a:spcAft>
              <a:defRPr sz="1500" b="0">
                <a:solidFill>
                  <a:srgbClr val="4A4A4A"/>
                </a:solidFill>
                <a:latin typeface="Calibri"/>
              </a:defRPr>
            </a:pPr>
            <a:r>
              <a:t>Instead of humans manually reading, sorting, and verifying reports, our pipeline ingests</a:t>
            </a:r>
          </a:p>
          <a:p>
            <a:pPr algn="l">
              <a:lnSpc>
                <a:spcPts val="2175"/>
              </a:lnSpc>
              <a:spcAft>
                <a:spcPts val="400"/>
              </a:spcAft>
              <a:defRPr sz="1500" b="0">
                <a:solidFill>
                  <a:srgbClr val="4A4A4A"/>
                </a:solidFill>
                <a:latin typeface="Calibri"/>
              </a:defRPr>
            </a:pPr>
            <a:r>
              <a:t>raw unstructured field data and transforms it into structured, actionable municipal intelligence.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0800" cy="27432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33649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Gemini Vision 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0332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•  Analyzes photo evidence semantically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•  Auto-classifies: Garbage / Pothole / Sewerage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•  Assigns severity: Low → Critical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•  Generates step-by-step field crew action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502920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3200400"/>
            <a:ext cx="50800" cy="2743200"/>
          </a:xfrm>
          <a:prstGeom prst="roundRect">
            <a:avLst>
              <a:gd name="adj" fmla="val 4000"/>
            </a:avLst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3649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Whisper Speech-to-Text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70332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•  Citizens speak in Urdu or Sindhi — no typing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•  Transcribes local dialect audio in real time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•  Translates into standardized municipal records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•  Extracts key entities (location, urgency, type)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47472"/>
          </a:xfrm>
          <a:prstGeom prst="roundRect">
            <a:avLst>
              <a:gd name="adj" fmla="val 4000"/>
            </a:avLst>
          </a:prstGeom>
          <a:solidFill>
            <a:srgbClr val="E8EEF2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100" b="1">
                <a:solidFill>
                  <a:srgbClr val="1B4965"/>
                </a:solidFill>
                <a:latin typeface="Calibri"/>
              </a:rPr>
              <a:t>Muhammad Mir  —  Frontend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A1A1A"/>
                </a:solidFill>
                <a:latin typeface="Cambria"/>
              </a:defRPr>
            </a:pPr>
            <a:r>
              <a:t>Zero-Friction Citizen Reporting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75"/>
              </a:lnSpc>
              <a:spcAft>
                <a:spcPts val="400"/>
              </a:spcAft>
              <a:defRPr sz="1500" b="0">
                <a:solidFill>
                  <a:srgbClr val="4A4A4A"/>
                </a:solidFill>
                <a:latin typeface="Calibri"/>
              </a:defRPr>
            </a:pPr>
            <a:r>
              <a:t>No downloads, no mandatory logins. A citizen in Latifabad stands in front of a collapsed</a:t>
            </a:r>
          </a:p>
          <a:p>
            <a:pPr algn="l">
              <a:lnSpc>
                <a:spcPts val="2175"/>
              </a:lnSpc>
              <a:spcAft>
                <a:spcPts val="400"/>
              </a:spcAft>
              <a:defRPr sz="1500" b="0">
                <a:solidFill>
                  <a:srgbClr val="4A4A4A"/>
                </a:solidFill>
                <a:latin typeface="Calibri"/>
              </a:defRPr>
            </a:pPr>
            <a:r>
              <a:t>road and completes a full multimodal report in under 15 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3291840" cy="38100"/>
          </a:xfrm>
          <a:prstGeom prst="roundRect">
            <a:avLst>
              <a:gd name="adj" fmla="val 4000"/>
            </a:avLst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1A"/>
                </a:solidFill>
                <a:latin typeface="Calibri"/>
              </a:defRPr>
            </a:pPr>
            <a:r>
              <a:t>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Visual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4A4A4A"/>
                </a:solidFill>
                <a:latin typeface="Calibri"/>
              </a:defRPr>
            </a:pPr>
            <a:r>
              <a:t>Snap a photo directly.</a:t>
            </a:r>
          </a:p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4A4A4A"/>
                </a:solidFill>
                <a:latin typeface="Calibri"/>
              </a:defRPr>
            </a:pPr>
            <a:r>
              <a:t>Frontend optimizes the image</a:t>
            </a:r>
          </a:p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4A4A4A"/>
                </a:solidFill>
                <a:latin typeface="Calibri"/>
              </a:defRPr>
            </a:pPr>
            <a:r>
              <a:t>buffer before transmission.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20040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3200400"/>
            <a:ext cx="3291840" cy="381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3337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1A"/>
                </a:solidFill>
                <a:latin typeface="Calibri"/>
              </a:defRPr>
            </a:pPr>
            <a:r>
              <a:t>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749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Spatial Telemetry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4A4A4A"/>
                </a:solidFill>
                <a:latin typeface="Calibri"/>
              </a:defRPr>
            </a:pPr>
            <a:r>
              <a:t>HTML5 Geolocation API extracts</a:t>
            </a:r>
          </a:p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4A4A4A"/>
                </a:solidFill>
                <a:latin typeface="Calibri"/>
              </a:defRPr>
            </a:pPr>
            <a:r>
              <a:t>high-precision lat/lng directly</a:t>
            </a:r>
          </a:p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4A4A4A"/>
                </a:solidFill>
                <a:latin typeface="Calibri"/>
              </a:defRPr>
            </a:pPr>
            <a:r>
              <a:t>from the device GPS sensor.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200400"/>
            <a:ext cx="32918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63840" y="3200400"/>
            <a:ext cx="3291840" cy="38100"/>
          </a:xfrm>
          <a:prstGeom prst="roundRect">
            <a:avLst>
              <a:gd name="adj" fmla="val 4000"/>
            </a:avLst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3337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1A1A1A"/>
                </a:solidFill>
                <a:latin typeface="Calibri"/>
              </a:defRPr>
            </a:pPr>
            <a:r>
              <a:t>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4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Voice Notes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4A4A4A"/>
                </a:solidFill>
                <a:latin typeface="Calibri"/>
              </a:defRPr>
            </a:pPr>
            <a:r>
              <a:t>Web Audio API captures raw</a:t>
            </a:r>
          </a:p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4A4A4A"/>
                </a:solidFill>
                <a:latin typeface="Calibri"/>
              </a:defRPr>
            </a:pPr>
            <a:r>
              <a:t>voice in Urdu or Sindhi —</a:t>
            </a:r>
          </a:p>
          <a:p>
            <a:pPr algn="ctr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4A4A4A"/>
                </a:solidFill>
                <a:latin typeface="Calibri"/>
              </a:defRPr>
            </a:pPr>
            <a:r>
              <a:t>no typing required at all.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76072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7A7A7A"/>
                </a:solidFill>
                <a:latin typeface="Calibri"/>
              </a:defRPr>
            </a:pPr>
            <a:r>
              <a:t>All three streams packaged into a single multipart/form-data payload, sent asynchronously.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023360" y="457200"/>
            <a:ext cx="4114800" cy="347472"/>
          </a:xfrm>
          <a:prstGeom prst="roundRect">
            <a:avLst>
              <a:gd name="adj" fmla="val 4000"/>
            </a:avLst>
          </a:prstGeom>
          <a:solidFill>
            <a:srgbClr val="E8EEF2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100" b="1">
                <a:solidFill>
                  <a:srgbClr val="1B4965"/>
                </a:solidFill>
                <a:latin typeface="Calibri"/>
              </a:rPr>
              <a:t>Muhammad Mir  —  Frontend Lead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1A1A1A"/>
                </a:solidFill>
                <a:latin typeface="Cambria"/>
              </a:defRPr>
            </a:pPr>
            <a:r>
              <a:t>From Edge to Core — In Under a Second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A7A7A"/>
                </a:solidFill>
                <a:latin typeface="Calibri"/>
              </a:defRPr>
            </a:pPr>
            <a:r>
              <a:t>The complete lifecycle of a citizen report submission.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33172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2834640"/>
            <a:ext cx="1737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0040" y="2834640"/>
            <a:ext cx="1737360" cy="381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2944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1">
                <a:solidFill>
                  <a:srgbClr val="7A7A7A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3154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Capture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Photo + GPS + Audio</a:t>
            </a:r>
          </a:p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from citizen's device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DDD8D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23160" y="2834640"/>
            <a:ext cx="1737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23160" y="2834640"/>
            <a:ext cx="1737360" cy="381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2944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1">
                <a:solidFill>
                  <a:srgbClr val="7A7A7A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154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Validate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MIME check, size limit,</a:t>
            </a:r>
          </a:p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coordinate boundaries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DDD8D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2834640"/>
            <a:ext cx="1737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26280" y="2834640"/>
            <a:ext cx="1737360" cy="381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2944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1">
                <a:solidFill>
                  <a:srgbClr val="7A7A7A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154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AI 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Vision + STT classify,</a:t>
            </a:r>
          </a:p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severity-score, action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DDD8D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29400" y="2834640"/>
            <a:ext cx="1737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29400" y="2834640"/>
            <a:ext cx="1737360" cy="381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944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1">
                <a:solidFill>
                  <a:srgbClr val="7A7A7A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154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Dedup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50m Haversine radius</a:t>
            </a:r>
          </a:p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merges duplicate reports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3375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DDD8D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2834640"/>
            <a:ext cx="173736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732520" y="2834640"/>
            <a:ext cx="1737360" cy="381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32520" y="2944368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40"/>
              </a:lnSpc>
              <a:spcAft>
                <a:spcPts val="0"/>
              </a:spcAft>
              <a:defRPr sz="800" b="1">
                <a:solidFill>
                  <a:srgbClr val="7A7A7A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31546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1A1A1A"/>
                </a:solidFill>
                <a:latin typeface="Calibri"/>
              </a:defRPr>
            </a:pPr>
            <a:r>
              <a:t>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347472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Ticket dispatched to</a:t>
            </a:r>
          </a:p>
          <a:p>
            <a:pPr algn="ctr">
              <a:lnSpc>
                <a:spcPts val="1215"/>
              </a:lnSpc>
              <a:spcAft>
                <a:spcPts val="400"/>
              </a:spcAft>
              <a:defRPr sz="900" b="0">
                <a:solidFill>
                  <a:srgbClr val="7A7A7A"/>
                </a:solidFill>
                <a:latin typeface="Calibri"/>
              </a:defRPr>
            </a:pPr>
            <a:r>
              <a:t>Municipal Command Center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846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A6E5C"/>
                </a:solidFill>
                <a:latin typeface="Calibri"/>
              </a:defRPr>
            </a:pPr>
            <a:r>
              <a:t>Average total processing time:  &lt; 800ms  end-to-end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457200"/>
            <a:ext cx="4114800" cy="347472"/>
          </a:xfrm>
          <a:prstGeom prst="roundRect">
            <a:avLst>
              <a:gd name="adj" fmla="val 4000"/>
            </a:avLst>
          </a:prstGeom>
          <a:solidFill>
            <a:srgbClr val="153D56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Abdul Latif  —  Backend &amp; Spatial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Cambria"/>
              </a:defRPr>
            </a:pPr>
            <a:r>
              <a:t>The Haversine Geo-Deduplication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250"/>
              </a:lnSpc>
              <a:spcAft>
                <a:spcPts val="400"/>
              </a:spcAft>
              <a:defRPr sz="1500" b="0">
                <a:solidFill>
                  <a:srgbClr val="CCDDEE"/>
                </a:solidFill>
                <a:latin typeface="Calibri"/>
              </a:defRPr>
            </a:pPr>
            <a:r>
              <a:t>When 10 people report the same pothole near Haider Chowk within two days,</a:t>
            </a:r>
          </a:p>
          <a:p>
            <a:pPr algn="ctr">
              <a:lnSpc>
                <a:spcPts val="2250"/>
              </a:lnSpc>
              <a:spcAft>
                <a:spcPts val="400"/>
              </a:spcAft>
              <a:defRPr sz="1500" b="0">
                <a:solidFill>
                  <a:srgbClr val="CCDDEE"/>
                </a:solidFill>
                <a:latin typeface="Calibri"/>
              </a:defRPr>
            </a:pPr>
            <a:r>
              <a:t>we create exactly one ticket — not ten.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1680" y="2926080"/>
            <a:ext cx="8138160" cy="822960"/>
          </a:xfrm>
          <a:prstGeom prst="roundRect">
            <a:avLst>
              <a:gd name="adj" fmla="val 4000"/>
            </a:avLst>
          </a:prstGeom>
          <a:solidFill>
            <a:srgbClr val="153D56"/>
          </a:solidFill>
          <a:ln w="12700">
            <a:solidFill>
              <a:srgbClr val="255D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017520"/>
            <a:ext cx="8138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Cambria"/>
              </a:defRPr>
            </a:pPr>
            <a:r>
              <a:t>Δσ = 2 · arcsin √( sin²(Δφ/2) + cos φ₁ · cos φ₂ · sin²(Δλ/2) 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5EC4B6"/>
                </a:solidFill>
                <a:latin typeface="Calibri"/>
              </a:defRPr>
            </a:pPr>
            <a:r>
              <a:t>50m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7A7A7A"/>
                </a:solidFill>
                <a:latin typeface="Calibri"/>
              </a:defRPr>
            </a:pPr>
            <a:r>
              <a:t>PERIMETER RADIUS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5EC4B6"/>
                </a:solidFill>
                <a:latin typeface="Calibri"/>
              </a:defRPr>
            </a:pPr>
            <a:r>
              <a:t>48hr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7A7A7A"/>
                </a:solidFill>
                <a:latin typeface="Calibri"/>
              </a:defRPr>
            </a:pPr>
            <a:r>
              <a:t>TEMPORAL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297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5EC4B6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7A7A7A"/>
                </a:solidFill>
                <a:latin typeface="Calibri"/>
              </a:defRPr>
            </a:pPr>
            <a:r>
              <a:t>DUPLICATES ELIMINATED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4114800" cy="347472"/>
          </a:xfrm>
          <a:prstGeom prst="roundRect">
            <a:avLst>
              <a:gd name="adj" fmla="val 4000"/>
            </a:avLst>
          </a:prstGeom>
          <a:solidFill>
            <a:srgbClr val="E8EEF2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100" b="1">
                <a:solidFill>
                  <a:srgbClr val="1B4965"/>
                </a:solidFill>
                <a:latin typeface="Calibri"/>
              </a:rPr>
              <a:t>Abdul Latif  —  Backend &amp; Spatial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1A1A1A"/>
                </a:solidFill>
                <a:latin typeface="Cambria"/>
              </a:defRPr>
            </a:pPr>
            <a:r>
              <a:t>Production-Grade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1300" b="0">
                <a:solidFill>
                  <a:srgbClr val="4A4A4A"/>
                </a:solidFill>
                <a:latin typeface="Calibri"/>
              </a:defRPr>
            </a:pPr>
            <a:r>
              <a:t>•  FastAPI — async-first Python framework with automatic OpenAPI docs</a:t>
            </a:r>
          </a:p>
          <a:p>
            <a:pPr algn="l">
              <a:lnSpc>
                <a:spcPts val="2600"/>
              </a:lnSpc>
              <a:spcAft>
                <a:spcPts val="400"/>
              </a:spcAft>
              <a:defRPr sz="1300" b="0">
                <a:solidFill>
                  <a:srgbClr val="4A4A4A"/>
                </a:solidFill>
                <a:latin typeface="Calibri"/>
              </a:defRPr>
            </a:pPr>
            <a:r>
              <a:t>•  SQLAlchemy ORM with SQLite Write-Ahead Logging for concurrent writes</a:t>
            </a:r>
          </a:p>
          <a:p>
            <a:pPr algn="l">
              <a:lnSpc>
                <a:spcPts val="2600"/>
              </a:lnSpc>
              <a:spcAft>
                <a:spcPts val="400"/>
              </a:spcAft>
              <a:defRPr sz="1300" b="0">
                <a:solidFill>
                  <a:srgbClr val="4A4A4A"/>
                </a:solidFill>
                <a:latin typeface="Calibri"/>
              </a:defRPr>
            </a:pPr>
            <a:r>
              <a:t>•  Smart Hyderabad Geocoding — text addresses map to known coords</a:t>
            </a:r>
          </a:p>
          <a:p>
            <a:pPr algn="l">
              <a:lnSpc>
                <a:spcPts val="2600"/>
              </a:lnSpc>
              <a:spcAft>
                <a:spcPts val="400"/>
              </a:spcAft>
              <a:defRPr sz="1300" b="0">
                <a:solidFill>
                  <a:srgbClr val="4A4A4A"/>
                </a:solidFill>
                <a:latin typeface="Calibri"/>
              </a:defRPr>
            </a:pPr>
            <a:r>
              <a:t>•  Rate Limiting via SlowAPI to prevent abuse under high 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10312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400"/>
              </a:spcAft>
              <a:defRPr sz="1300" b="0">
                <a:solidFill>
                  <a:srgbClr val="4A4A4A"/>
                </a:solidFill>
                <a:latin typeface="Calibri"/>
              </a:defRPr>
            </a:pPr>
            <a:r>
              <a:t>•  12 real Hyderabad landmarks seeded with authentic GPS coordinates</a:t>
            </a:r>
          </a:p>
          <a:p>
            <a:pPr algn="l">
              <a:lnSpc>
                <a:spcPts val="2600"/>
              </a:lnSpc>
              <a:spcAft>
                <a:spcPts val="400"/>
              </a:spcAft>
              <a:defRPr sz="1300" b="0">
                <a:solidFill>
                  <a:srgbClr val="4A4A4A"/>
                </a:solidFill>
                <a:latin typeface="Calibri"/>
              </a:defRPr>
            </a:pPr>
            <a:r>
              <a:t>•  CORS-secured communication between Streamlit frontend and FastAPI</a:t>
            </a:r>
          </a:p>
          <a:p>
            <a:pPr algn="l">
              <a:lnSpc>
                <a:spcPts val="2600"/>
              </a:lnSpc>
              <a:spcAft>
                <a:spcPts val="400"/>
              </a:spcAft>
              <a:defRPr sz="1300" b="0">
                <a:solidFill>
                  <a:srgbClr val="4A4A4A"/>
                </a:solidFill>
                <a:latin typeface="Calibri"/>
              </a:defRPr>
            </a:pPr>
            <a:r>
              <a:t>•  Dual coordinate support — accepts both lat/lng and latitude/longitude</a:t>
            </a:r>
          </a:p>
          <a:p>
            <a:pPr algn="l">
              <a:lnSpc>
                <a:spcPts val="2600"/>
              </a:lnSpc>
              <a:spcAft>
                <a:spcPts val="400"/>
              </a:spcAft>
              <a:defRPr sz="1300" b="0">
                <a:solidFill>
                  <a:srgbClr val="4A4A4A"/>
                </a:solidFill>
                <a:latin typeface="Calibri"/>
              </a:defRPr>
            </a:pPr>
            <a:r>
              <a:t>•  Automated test suite — 16/16 integration tests passing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10515600" cy="1005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1B4965"/>
                </a:solidFill>
                <a:latin typeface="Calibri"/>
              </a:defRPr>
            </a:pPr>
            <a:r>
              <a:t>12 HYDERABAD LANDMARKS COVERING THE 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7A7A7A"/>
                </a:solidFill>
                <a:latin typeface="Calibri"/>
              </a:defRPr>
            </a:pPr>
            <a:r>
              <a:t>Pacco Qillo  ·  Autobahn Road  ·  Naseem Nagar  ·  Latifabad Unit 7  ·  Wadhu Wah Road  ·  Haider Chowk</a:t>
            </a:r>
          </a:p>
          <a:p>
            <a:pPr algn="l">
              <a:lnSpc>
                <a:spcPts val="1650"/>
              </a:lnSpc>
              <a:spcAft>
                <a:spcPts val="400"/>
              </a:spcAft>
              <a:defRPr sz="1100" b="0">
                <a:solidFill>
                  <a:srgbClr val="7A7A7A"/>
                </a:solidFill>
                <a:latin typeface="Calibri"/>
              </a:defRPr>
            </a:pPr>
            <a:r>
              <a:t>Station Road  ·  Kotri Barrage  ·  Thandi Sarak  ·  Tower Market  ·  Citizen Colony  ·  SITE Industrial Area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0" y="457200"/>
            <a:ext cx="4114800" cy="347472"/>
          </a:xfrm>
          <a:prstGeom prst="roundRect">
            <a:avLst>
              <a:gd name="adj" fmla="val 4000"/>
            </a:avLst>
          </a:prstGeom>
          <a:solidFill>
            <a:srgbClr val="E8EEF2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0800" bIns="50800"/>
          <a:lstStyle/>
          <a:p>
            <a:pPr algn="ctr"/>
            <a:r>
              <a:rPr sz="1100" b="1">
                <a:solidFill>
                  <a:srgbClr val="1B4965"/>
                </a:solidFill>
                <a:latin typeface="Calibri"/>
              </a:rPr>
              <a:t>Abdul Latif  —  Backend &amp; Spatial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1A1A1A"/>
                </a:solidFill>
                <a:latin typeface="Cambria"/>
              </a:defRPr>
            </a:pPr>
            <a:r>
              <a:t>Live Municipal Command Center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3736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7A7A7A"/>
                </a:solidFill>
                <a:latin typeface="Calibri"/>
              </a:defRPr>
            </a:pPr>
            <a:r>
              <a:t>Real-time GIS visualization across 12 critical zones of Hyderabad, Sindh.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233172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spcAft>
                <a:spcPts val="0"/>
              </a:spcAft>
              <a:defRPr sz="3000" b="0">
                <a:solidFill>
                  <a:srgbClr val="1A1A1A"/>
                </a:solidFill>
                <a:latin typeface="Calibri"/>
              </a:defRPr>
            </a:pPr>
            <a:r>
              <a:t>🗺️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Real Street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40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3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Authentic Hyderabad map —</a:t>
            </a:r>
          </a:p>
          <a:p>
            <a:pPr algn="ctr">
              <a:lnSpc>
                <a:spcPts val="173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not a mockup. Color-coded</a:t>
            </a:r>
          </a:p>
          <a:p>
            <a:pPr algn="ctr">
              <a:lnSpc>
                <a:spcPts val="173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pins sorted by severity.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743200"/>
            <a:ext cx="329184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spcAft>
                <a:spcPts val="0"/>
              </a:spcAft>
              <a:defRPr sz="3000" b="0">
                <a:solidFill>
                  <a:srgbClr val="1A1A1A"/>
                </a:solidFill>
                <a:latin typeface="Calibri"/>
              </a:defRPr>
            </a:pPr>
            <a:r>
              <a:t>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34290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Dedup Perimeters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840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3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50m dashed circles on real</a:t>
            </a:r>
          </a:p>
          <a:p>
            <a:pPr algn="ctr">
              <a:lnSpc>
                <a:spcPts val="173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streets visualize active</a:t>
            </a:r>
          </a:p>
          <a:p>
            <a:pPr algn="ctr">
              <a:lnSpc>
                <a:spcPts val="173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deduplication zones.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743200"/>
            <a:ext cx="3291840" cy="2377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9260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900"/>
              </a:lnSpc>
              <a:spcAft>
                <a:spcPts val="0"/>
              </a:spcAft>
              <a:defRPr sz="3000" b="0">
                <a:solidFill>
                  <a:srgbClr val="1A1A1A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429000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Live KPIs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840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73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'Resolved Today' counter</a:t>
            </a:r>
          </a:p>
          <a:p>
            <a:pPr algn="ctr">
              <a:lnSpc>
                <a:spcPts val="173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updates in real-time as field</a:t>
            </a:r>
          </a:p>
          <a:p>
            <a:pPr algn="ctr">
              <a:lnSpc>
                <a:spcPts val="173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crews close tickets.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1">
                <a:solidFill>
                  <a:srgbClr val="7A7A7A"/>
                </a:solidFill>
                <a:latin typeface="Calibri"/>
              </a:defRPr>
            </a:pPr>
            <a:r>
              <a:t>LIVE DEMO  →  Open  http://127.0.0.1:8000  to see it running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B4965"/>
                </a:solidFill>
                <a:latin typeface="Calibri"/>
              </a:defRPr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1A1A1A"/>
                </a:solidFill>
                <a:latin typeface="Cambria"/>
              </a:defRPr>
            </a:pPr>
            <a:r>
              <a:t>Why This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155448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1B4965"/>
                </a:solidFill>
                <a:latin typeface="Calibri"/>
              </a:defRPr>
            </a:pPr>
            <a:r>
              <a:t>~70%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7A7A7A"/>
                </a:solidFill>
                <a:latin typeface="Calibri"/>
              </a:defRPr>
            </a:pPr>
            <a:r>
              <a:t>FEWER DUPLICATE</a:t>
            </a:r>
            <a:br/>
            <a:r>
              <a:t>DISPATCHES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0A6E5C"/>
                </a:solidFill>
                <a:latin typeface="Calibri"/>
              </a:defRPr>
            </a:pPr>
            <a:r>
              <a:t>15 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7A7A7A"/>
                </a:solidFill>
                <a:latin typeface="Calibri"/>
              </a:defRPr>
            </a:pPr>
            <a:r>
              <a:t>CITIZEN REPORT</a:t>
            </a:r>
            <a:br/>
            <a:r>
              <a:t>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B5830A"/>
                </a:solidFill>
                <a:latin typeface="Calibri"/>
              </a:defRPr>
            </a:pPr>
            <a:r>
              <a:t>&lt;800ms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7A7A7A"/>
                </a:solidFill>
                <a:latin typeface="Calibri"/>
              </a:defRPr>
            </a:pPr>
            <a:r>
              <a:t>END-TO-END</a:t>
            </a:r>
            <a:br/>
            <a:r>
              <a:t>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0312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720"/>
              </a:lnSpc>
              <a:spcAft>
                <a:spcPts val="0"/>
              </a:spcAft>
              <a:defRPr sz="4400" b="1">
                <a:solidFill>
                  <a:srgbClr val="C44536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080"/>
              </a:lnSpc>
              <a:spcAft>
                <a:spcPts val="0"/>
              </a:spcAft>
              <a:defRPr sz="900" b="1">
                <a:solidFill>
                  <a:srgbClr val="7A7A7A"/>
                </a:solidFill>
                <a:latin typeface="Calibri"/>
              </a:defRPr>
            </a:pPr>
            <a:r>
              <a:t>MANUAL DATA</a:t>
            </a:r>
            <a:br/>
            <a:r>
              <a:t>ENTRY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50800" cy="1828800"/>
          </a:xfrm>
          <a:prstGeom prst="roundRect">
            <a:avLst>
              <a:gd name="adj" fmla="val 4000"/>
            </a:avLst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793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Municipal Cost Savings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617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Eliminates redundant field crew dispatches,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reduces fuel costs, and removes the need for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large human call centers and manual data-entry.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4114800"/>
            <a:ext cx="50292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4114800"/>
            <a:ext cx="50800" cy="1828800"/>
          </a:xfrm>
          <a:prstGeom prst="roundRect">
            <a:avLst>
              <a:gd name="adj" fmla="val 4000"/>
            </a:avLst>
          </a:prstGeom>
          <a:solidFill>
            <a:srgbClr val="0A6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27939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1A1A1A"/>
                </a:solidFill>
                <a:latin typeface="Calibri"/>
              </a:defRPr>
            </a:pPr>
            <a:r>
              <a:t>Scalable Across Sindh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17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Lightweight, stateless API architecture. Deploy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across any district or cantonment board. Migrate to</a:t>
            </a:r>
          </a:p>
          <a:p>
            <a:pPr algn="l">
              <a:lnSpc>
                <a:spcPts val="1679"/>
              </a:lnSpc>
              <a:spcAft>
                <a:spcPts val="400"/>
              </a:spcAft>
              <a:defRPr sz="1200" b="0">
                <a:solidFill>
                  <a:srgbClr val="4A4A4A"/>
                </a:solidFill>
                <a:latin typeface="Calibri"/>
              </a:defRPr>
            </a:pPr>
            <a:r>
              <a:t>Alibaba Cloud ApsaraDB + ACK for province-wide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1B4965"/>
                </a:solidFill>
                <a:latin typeface="Calibri"/>
              </a:defRPr>
            </a:pPr>
            <a: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1A1A1A"/>
                </a:solidFill>
                <a:latin typeface="Cambria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1554480"/>
            <a:ext cx="822960" cy="38100"/>
          </a:xfrm>
          <a:prstGeom prst="rect">
            <a:avLst/>
          </a:prstGeom>
          <a:solidFill>
            <a:srgbClr val="1B49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7A7A7A"/>
                </a:solidFill>
                <a:latin typeface="Calibri"/>
              </a:defRPr>
            </a:pPr>
            <a:r>
              <a:t>FRONTEND &amp; CITIZEN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37160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963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23160" y="2468880"/>
            <a:ext cx="137160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3160" y="24963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HTML5 Geolocation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468880"/>
            <a:ext cx="137160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4963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Web Audio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2468880"/>
            <a:ext cx="137160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496312"/>
            <a:ext cx="1371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Responsive CSS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7A7A7A"/>
                </a:solidFill>
                <a:latin typeface="Calibri"/>
              </a:defRPr>
            </a:pPr>
            <a:r>
              <a:t>AI &amp; 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474720"/>
            <a:ext cx="155448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0215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Gemini Vision LLM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3474720"/>
            <a:ext cx="155448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350215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Whisper STT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474720"/>
            <a:ext cx="155448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3502152"/>
            <a:ext cx="15544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Haversine Algorithm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1031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7A7A7A"/>
                </a:solidFill>
                <a:latin typeface="Calibri"/>
              </a:defRPr>
            </a:pPr>
            <a:r>
              <a:t>BACKEND &amp; 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5120" y="2468880"/>
            <a:ext cx="96012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2496312"/>
            <a:ext cx="960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Python 3.14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26680" y="2468880"/>
            <a:ext cx="96012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2496312"/>
            <a:ext cx="960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2468880"/>
            <a:ext cx="96012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40" y="2496312"/>
            <a:ext cx="960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SQLAlchemy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29800" y="2468880"/>
            <a:ext cx="96012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29800" y="2496312"/>
            <a:ext cx="960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SQLite WAL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81360" y="2468880"/>
            <a:ext cx="96012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81360" y="2496312"/>
            <a:ext cx="960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Pydantic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7A7A7A"/>
                </a:solidFill>
                <a:latin typeface="Calibri"/>
              </a:defRPr>
            </a:pPr>
            <a:r>
              <a:t>VISUALIZATION &amp; DEVOPS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75120" y="3474720"/>
            <a:ext cx="114300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502152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Leaflet.js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09560" y="3474720"/>
            <a:ext cx="114300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09560" y="3502152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OpenStreetMap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3474720"/>
            <a:ext cx="114300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0" y="3502152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Pytest (16/16)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78440" y="3474720"/>
            <a:ext cx="1143000" cy="3474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8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78440" y="3502152"/>
            <a:ext cx="1143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4A4A4A"/>
                </a:solidFill>
                <a:latin typeface="Calibri"/>
              </a:defRPr>
            </a:pPr>
            <a:r>
              <a:t>CORS + Rate Limit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96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Aft>
                <a:spcPts val="0"/>
              </a:spcAft>
              <a:defRPr sz="4800" b="1">
                <a:solidFill>
                  <a:srgbClr val="FFFFFF"/>
                </a:solidFill>
                <a:latin typeface="Cambria"/>
              </a:defRPr>
            </a:pPr>
            <a:r>
              <a:t>Cleaner Cities.</a:t>
            </a:r>
            <a:br/>
            <a:r>
              <a:t>Smarter Government.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292608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CCDDEE"/>
                </a:solidFill>
                <a:latin typeface="Calibri"/>
              </a:defRPr>
            </a:pPr>
            <a:r>
              <a:t>CleanCity Copilot transforms chaotic citizen voices into structured,</a:t>
            </a:r>
          </a:p>
          <a:p>
            <a:pPr algn="ctr">
              <a:lnSpc>
                <a:spcPts val="2400"/>
              </a:lnSpc>
              <a:spcAft>
                <a:spcPts val="400"/>
              </a:spcAft>
              <a:defRPr sz="1600" b="0">
                <a:solidFill>
                  <a:srgbClr val="CCDDEE"/>
                </a:solidFill>
                <a:latin typeface="Calibri"/>
              </a:defRPr>
            </a:pPr>
            <a:r>
              <a:t>geo-verified, AI-triaged municipal action — in real time.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0" y="3931920"/>
            <a:ext cx="822960" cy="38100"/>
          </a:xfrm>
          <a:prstGeom prst="rect">
            <a:avLst/>
          </a:prstGeom>
          <a:solidFill>
            <a:srgbClr val="3A7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Syed Fazeel Ahmed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Muhammad Mir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Abdul Latif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80A0B5"/>
                </a:solidFill>
                <a:latin typeface="Calibri"/>
              </a:defRPr>
            </a:pPr>
            <a:r>
              <a:t>Thank you — we welcome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